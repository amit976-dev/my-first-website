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914400"/>
            <a:ext cx="1371600" cy="777240"/>
          </a:xfrm>
          <a:prstGeom prst="round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75320" y="111556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1600200"/>
            <a:ext cx="1325880" cy="777240"/>
          </a:xfrm>
          <a:prstGeom prst="round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04120" y="1801368"/>
            <a:ext cx="1234439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743200"/>
            <a:ext cx="1371600" cy="777240"/>
          </a:xfrm>
          <a:prstGeom prst="round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94436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AI / 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3886200"/>
            <a:ext cx="1371600" cy="777240"/>
          </a:xfrm>
          <a:prstGeom prst="round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408736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983480"/>
            <a:ext cx="1371600" cy="777240"/>
          </a:xfrm>
          <a:prstGeom prst="round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5184648"/>
            <a:ext cx="12801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0" y="1280160"/>
            <a:ext cx="457200" cy="548640"/>
          </a:xfrm>
          <a:prstGeom prst="line">
            <a:avLst/>
          </a:prstGeom>
          <a:ln w="16510">
            <a:solidFill>
              <a:srgbClr val="7F9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784080" y="2377440"/>
            <a:ext cx="365760" cy="365760"/>
          </a:xfrm>
          <a:prstGeom prst="line">
            <a:avLst/>
          </a:prstGeom>
          <a:ln w="16510">
            <a:solidFill>
              <a:srgbClr val="7F9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0" y="3566160"/>
            <a:ext cx="274320" cy="320040"/>
          </a:xfrm>
          <a:prstGeom prst="line">
            <a:avLst/>
          </a:prstGeom>
          <a:ln w="16510">
            <a:solidFill>
              <a:srgbClr val="7F9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3520440"/>
            <a:ext cx="0" cy="1463040"/>
          </a:xfrm>
          <a:prstGeom prst="line">
            <a:avLst/>
          </a:prstGeom>
          <a:ln w="16510">
            <a:solidFill>
              <a:srgbClr val="7F9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731520"/>
            <a:ext cx="1508760" cy="292608"/>
          </a:xfrm>
          <a:prstGeom prst="round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749808"/>
            <a:ext cx="1435607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CAREER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508760"/>
            <a:ext cx="662940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Explore the IT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063240"/>
            <a:ext cx="64008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BD7E9"/>
                </a:solidFill>
                <a:latin typeface="Aptos"/>
              </a:rPr>
              <a:t>Career paths, technologies, and how the fields
work together in the real 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892040"/>
            <a:ext cx="63093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6AEBE"/>
                </a:solidFill>
                <a:latin typeface="Aptos"/>
              </a:rPr>
              <a:t>From web development and data to AI, cloud &amp; cybersecurity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943600"/>
            <a:ext cx="6309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BBFD9"/>
                </a:solidFill>
                <a:latin typeface="Aptos"/>
              </a:rPr>
              <a:t>A student-friendly introduction to the technology industry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B8D2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A6B8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IT is an ecosystem, not a single 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Different specialists solve different problems — and collaborate to deliver a product or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82296" cy="1353312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Build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31089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Web, mobile,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508760"/>
            <a:ext cx="34290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3712" y="1508760"/>
            <a:ext cx="82296" cy="1353312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6367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Understand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029967"/>
            <a:ext cx="31089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Analytics, BI, data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5904" y="1508760"/>
            <a:ext cx="34290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5904" y="1508760"/>
            <a:ext cx="82296" cy="1353312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16367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Create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2029967"/>
            <a:ext cx="31089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AI, ML, generative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37560"/>
            <a:ext cx="34290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337560"/>
            <a:ext cx="82296" cy="1353312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655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Run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8"/>
            <a:ext cx="31089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Cloud, DevOps, networks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3337560"/>
            <a:ext cx="34290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3712" y="3337560"/>
            <a:ext cx="82296" cy="1353312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34655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Protect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858768"/>
            <a:ext cx="31089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Cybersecurity, 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75904" y="3337560"/>
            <a:ext cx="3429000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75904" y="3337560"/>
            <a:ext cx="82296" cy="1353312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34655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Ensure 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3858768"/>
            <a:ext cx="3108960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Testing, automation, UX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623560"/>
            <a:ext cx="104241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31F37"/>
                </a:solidFill>
                <a:latin typeface="Aptos"/>
              </a:rPr>
              <a:t>One product may need people from all six areas — no single role does everything.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1. Software &amp; application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These roles build the websites, apps, APIs, and internal systems people use.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82296" cy="150876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Frontend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3200400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Builds the user interface.
HTML • CSS • JavaScript • React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82296" cy="150876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9961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Backend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92807"/>
            <a:ext cx="3200400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Builds business logic and APIs.
Java / Spring Boot • Python •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37160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371600"/>
            <a:ext cx="82296" cy="150876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49961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Full-stack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92807"/>
            <a:ext cx="3200400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Works across frontend and backend.
React + Java or React + 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4612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46120"/>
            <a:ext cx="82296" cy="1508760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741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Mobile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3200400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Creates Android and iOS apps.
Kotlin • Swift • Flutter • React Native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24612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246120"/>
            <a:ext cx="82296" cy="1508760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3741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QA / test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767328"/>
            <a:ext cx="3200400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Finds defects and checks reliability.
Manual testing • Selenium • Playwright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246120"/>
            <a:ext cx="352044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3246120"/>
            <a:ext cx="82296" cy="1508760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33741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UI/UX designer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767328"/>
            <a:ext cx="3200400" cy="9143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Designs flows, layouts, and usability.
Figma • Prototyping • User research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31F37"/>
                </a:solidFill>
                <a:latin typeface="Aptos"/>
              </a:rPr>
              <a:t>Example: frontend shows a product → backend checks stock → database returns product details.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Java full stack vs Python full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Both can build complete web applications; the backend language and ecosystem differ.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82296" cy="320040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3247"/>
                </a:solidFill>
                <a:latin typeface="Aptos Display"/>
              </a:rPr>
              <a:t>Java full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892040" cy="2606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FRONTEND
HTML • CSS • JavaScript • React
BACKEND
Java • Spring Boot • REST APIs
DATA
MySQL / PostgreSQL • Redis
COMMON USES
Enterprise platforms, commerce, banking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82296" cy="320040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45336"/>
            <a:ext cx="48920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3247"/>
                </a:solidFill>
                <a:latin typeface="Aptos Display"/>
              </a:rPr>
              <a:t>Python full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38528"/>
            <a:ext cx="4892040" cy="2606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47186"/>
                </a:solidFill>
                <a:latin typeface="Aptos"/>
              </a:rPr>
              <a:t>FRONTEND
HTML • CSS • JavaScript • React
BACKEND
Python • Django / FastAPI / Flask
DATA
MySQL / PostgreSQL • Redis
COMMON USES
Web apps, APIs, data/AI-integrated 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074920"/>
            <a:ext cx="10149840" cy="658368"/>
          </a:xfrm>
          <a:prstGeom prst="round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230368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Full stack = frontend + backend + database integration (plus testing and deployment).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2. Data careers: turn raw data into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Data work ranges from reporting what happened to building predictions and data platforms.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82296" cy="205740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453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63247"/>
                </a:solidFill>
                <a:latin typeface="Aptos Display"/>
              </a:rPr>
              <a:t>Data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320040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Question: What happened, and why?
Tools: Excel • SQL • Power BI / Tableau • basic Python
Output: Reports, dashboards, insights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82296" cy="205740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453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63247"/>
                </a:solidFill>
                <a:latin typeface="Aptos Display"/>
              </a:rPr>
              <a:t>Data scientist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38528"/>
            <a:ext cx="320040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Question: What may happen next?
Tools: Python • statistics • ML • notebooks
Output: Forecasts, experiments, predictive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52044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417320"/>
            <a:ext cx="82296" cy="205740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453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63247"/>
                </a:solidFill>
                <a:latin typeface="Aptos Display"/>
              </a:rPr>
              <a:t>Data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38528"/>
            <a:ext cx="320040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Question: How do we deliver trustworthy data?
Tools: SQL • Python • ETL/ELT • Spark • Kafka • cloud
Output: Pipelines and data platforms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69080"/>
            <a:ext cx="10652760" cy="1051560"/>
          </a:xfrm>
          <a:prstGeom prst="roundRect">
            <a:avLst/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79392"/>
            <a:ext cx="1014984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Example: data engineer prepares sales data → data analyst builds a dashboard → data scientist predicts demand → business team changes stock plans.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321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Related roles: BI developer, analytics engineer, data architect, database administrator (DBA).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3. Artificial intelligence and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AI roles build systems that classify, predict, generate, recommend, or understand.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82296" cy="182880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4533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Machine learning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31089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Turns models into reliable software.
Python • scikit-learn • TensorFlow / PyTorch •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82296" cy="182880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4533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AI / GenAI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31089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Builds LLM-powered features and assistants.
LLM APIs • RAG • embeddings •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82296" cy="182880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4533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Research / applied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938528"/>
            <a:ext cx="31089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Experiments with methods and models.
Math • statistics • Python • 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4937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1F37"/>
                </a:solidFill>
                <a:latin typeface="Aptos Display"/>
              </a:rPr>
              <a:t>AI is connected to data and software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1005840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63247"/>
                </a:solidFill>
                <a:latin typeface="Aptos"/>
              </a:defRPr>
            </a:pPr>
            <a:r>
              <a:t>•  Data engineers provide clean, well-governed data.</a:t>
            </a:r>
          </a:p>
          <a:p>
            <a:pPr>
              <a:spcAft>
                <a:spcPts val="500"/>
              </a:spcAft>
              <a:defRPr sz="1250">
                <a:solidFill>
                  <a:srgbClr val="263247"/>
                </a:solidFill>
                <a:latin typeface="Aptos"/>
              </a:defRPr>
            </a:pPr>
            <a:r>
              <a:t>•  Data scientists experiment, train, and evaluate models.</a:t>
            </a:r>
          </a:p>
          <a:p>
            <a:pPr>
              <a:spcAft>
                <a:spcPts val="500"/>
              </a:spcAft>
              <a:defRPr sz="1250">
                <a:solidFill>
                  <a:srgbClr val="263247"/>
                </a:solidFill>
                <a:latin typeface="Aptos"/>
              </a:defRPr>
            </a:pPr>
            <a:r>
              <a:t>•  Software engineers integrate model outputs into an app or API.</a:t>
            </a:r>
          </a:p>
          <a:p>
            <a:pPr>
              <a:spcAft>
                <a:spcPts val="500"/>
              </a:spcAft>
              <a:defRPr sz="1250">
                <a:solidFill>
                  <a:srgbClr val="263247"/>
                </a:solidFill>
                <a:latin typeface="Aptos"/>
              </a:defRPr>
            </a:pPr>
            <a:r>
              <a:t>•  Cloud / MLOps engineers help deploy, monitor, and scale models.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4. Cloud, DevOps, networks, and 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These roles make systems available, maintainable, scalable, and safer.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82296" cy="1874519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453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Cloud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32004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Deploys and manages cloud infrastructure.
AWS • Azure • Google Cloud • networking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82296" cy="1874519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453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DevOps / platform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38528"/>
            <a:ext cx="32004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Automates build, test, deployment, and operations.
Linux • Git • Docker • CI/CD • Kubernetes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417320"/>
            <a:ext cx="82296" cy="1874519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4533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63247"/>
                </a:solidFill>
                <a:latin typeface="Aptos Display"/>
              </a:rPr>
              <a:t>Cybersecurity analyst /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938528"/>
            <a:ext cx="320040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7186"/>
                </a:solidFill>
                <a:latin typeface="Aptos"/>
              </a:rPr>
              <a:t>Protects identity, applications, networks, and data.
Security monitoring • IAM • risk • incident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7947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3794760"/>
            <a:ext cx="82296" cy="1325880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392277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Network / systems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315968"/>
            <a:ext cx="320040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Connectivity, servers, operating systems, troubleshooting.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35204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94760"/>
            <a:ext cx="82296" cy="132588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22776"/>
            <a:ext cx="3200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SRE / reliability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320040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Availability, performance, observability, recovery.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5. More career paths in the IT sector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The industry also needs specialists beyond software, data, and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82296" cy="109728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Business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9377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Translates business needs into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2588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25880"/>
            <a:ext cx="82296" cy="109728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453895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Product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47088"/>
            <a:ext cx="49377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Sets priorities and defines product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82296" cy="109728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71216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Database administrator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49377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Maintains database health, access, backup,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743200"/>
            <a:ext cx="82296" cy="1097280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71216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ERP / CRM consultant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64408"/>
            <a:ext cx="49377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Configures systems such as SAP, Salesforce, Dynamics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160520"/>
            <a:ext cx="82296" cy="1097280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88536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IT support / service 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81728"/>
            <a:ext cx="49377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Resolves user, device, account, and software issues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160520"/>
            <a:ext cx="52578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160520"/>
            <a:ext cx="82296" cy="1097280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88536"/>
            <a:ext cx="49377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Embedded / IoT developer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81728"/>
            <a:ext cx="49377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Software for devices, sensors, and connected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1">
                <a:solidFill>
                  <a:srgbClr val="647186"/>
                </a:solidFill>
                <a:latin typeface="Aptos"/>
              </a:rPr>
              <a:t>Career titles vary by company; the same person may cover multiple responsibilities in a small team.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How the fields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A simplified map of how data, software, AI, infrastructure, and security collaborate.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2331720"/>
            <a:ext cx="2743200" cy="914400"/>
          </a:xfrm>
          <a:prstGeom prst="round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92040" y="2578608"/>
            <a:ext cx="23774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Digital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286000" cy="731520"/>
          </a:xfrm>
          <a:prstGeom prst="roundRect">
            <a:avLst/>
          </a:prstGeom>
          <a:solidFill>
            <a:srgbClr val="E7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17320"/>
            <a:ext cx="213969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978E6"/>
                </a:solidFill>
                <a:latin typeface="Aptos"/>
              </a:rPr>
              <a:t>Frontend / UX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051560"/>
            <a:ext cx="2834640" cy="685800"/>
          </a:xfrm>
          <a:prstGeom prst="roundRect">
            <a:avLst/>
          </a:prstGeom>
          <a:solidFill>
            <a:srgbClr val="E4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1234439"/>
            <a:ext cx="268833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D9D6D"/>
                </a:solidFill>
                <a:latin typeface="Aptos"/>
              </a:rPr>
              <a:t>Backend /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234440"/>
            <a:ext cx="2377440" cy="731520"/>
          </a:xfrm>
          <a:prstGeom prst="round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71432" y="1417320"/>
            <a:ext cx="223113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566E1"/>
                </a:solidFill>
                <a:latin typeface="Aptos"/>
              </a:rPr>
              <a:t>SQL / Data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343400"/>
            <a:ext cx="2286000" cy="731520"/>
          </a:xfrm>
          <a:prstGeom prst="roundRect">
            <a:avLst/>
          </a:prstGeom>
          <a:solidFill>
            <a:srgbClr val="E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526280"/>
            <a:ext cx="213969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6AEBE"/>
                </a:solidFill>
                <a:latin typeface="Aptos"/>
              </a:rPr>
              <a:t>QA / Testing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4480560"/>
            <a:ext cx="2834640" cy="68580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4663440"/>
            <a:ext cx="268833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7973A"/>
                </a:solidFill>
                <a:latin typeface="Aptos"/>
              </a:rPr>
              <a:t>Cloud / DevOps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4343400"/>
            <a:ext cx="2377440" cy="731520"/>
          </a:xfrm>
          <a:prstGeom prst="roundRect">
            <a:avLst/>
          </a:prstGeom>
          <a:solidFill>
            <a:srgbClr val="FF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4526280"/>
            <a:ext cx="2231136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D55763"/>
                </a:solidFill>
                <a:latin typeface="Aptos"/>
              </a:rPr>
              <a:t>Cybersecurity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1645920"/>
            <a:ext cx="1691640" cy="822960"/>
          </a:xfrm>
          <a:prstGeom prst="line">
            <a:avLst/>
          </a:prstGeom>
          <a:ln w="19050">
            <a:solidFill>
              <a:srgbClr val="3978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1783080"/>
            <a:ext cx="0" cy="484632"/>
          </a:xfrm>
          <a:prstGeom prst="line">
            <a:avLst/>
          </a:prstGeom>
          <a:ln w="19050">
            <a:solidFill>
              <a:srgbClr val="2D9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543800" y="1645920"/>
            <a:ext cx="1508760" cy="822960"/>
          </a:xfrm>
          <a:prstGeom prst="line">
            <a:avLst/>
          </a:prstGeom>
          <a:ln w="19050">
            <a:solidFill>
              <a:srgbClr val="856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926080" y="3154680"/>
            <a:ext cx="1691640" cy="1417320"/>
          </a:xfrm>
          <a:prstGeom prst="line">
            <a:avLst/>
          </a:prstGeom>
          <a:ln w="19050">
            <a:solidFill>
              <a:srgbClr val="26A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080760" y="3310128"/>
            <a:ext cx="0" cy="1097280"/>
          </a:xfrm>
          <a:prstGeom prst="line">
            <a:avLst/>
          </a:prstGeom>
          <a:ln w="19050">
            <a:solidFill>
              <a:srgbClr val="E797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7543800" y="3154680"/>
            <a:ext cx="1508760" cy="1417320"/>
          </a:xfrm>
          <a:prstGeom prst="line">
            <a:avLst/>
          </a:prstGeom>
          <a:ln w="19050">
            <a:solidFill>
              <a:srgbClr val="D55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46120" y="5532120"/>
            <a:ext cx="5669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31F37"/>
                </a:solidFill>
                <a:latin typeface="Aptos"/>
              </a:rPr>
              <a:t>AI / Data science can use product data to add prediction or personalization.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Real-world example: build an e-commerce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Imagine customers buying shoes from an online store.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82296" cy="132588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1. Design &amp;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UI/UX + frontend +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508760"/>
            <a:ext cx="82296" cy="132588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367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2. Store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29967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SQL database + data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0876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508760"/>
            <a:ext cx="82296" cy="132588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63677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3. Accept payment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029967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Backend + payment gateway + 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4612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82296" cy="1325880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7413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4. Learn from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67328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Data analyst + Power BI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24612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246120"/>
            <a:ext cx="82296" cy="1325880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337413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5. Predict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767328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Data scientist / ML engineer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246120"/>
            <a:ext cx="342900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246120"/>
            <a:ext cx="82296" cy="1325880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37413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6. Keep it online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767328"/>
            <a:ext cx="3108960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Cloud + DevOps + QA +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" y="5440680"/>
            <a:ext cx="10241280" cy="530352"/>
          </a:xfrm>
          <a:prstGeom prst="roundRect">
            <a:avLst/>
          </a:prstGeom>
          <a:solidFill>
            <a:srgbClr val="131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550408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Every team solves one part of the same customer problem.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Follow the data: from customer click to business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This example shows why data, engineering, analytics, and software roles overlap.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965960" cy="146304"/>
          </a:xfrm>
          <a:prstGeom prst="round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217627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3247"/>
                </a:solidFill>
                <a:latin typeface="Aptos"/>
              </a:rPr>
              <a:t>Customer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65176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186"/>
                </a:solidFill>
                <a:latin typeface="Aptos"/>
              </a:rPr>
              <a:t>Clicks, searches, orders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04872" y="2542032"/>
            <a:ext cx="292608" cy="0"/>
          </a:xfrm>
          <a:prstGeom prst="line">
            <a:avLst/>
          </a:prstGeom>
          <a:ln w="19050">
            <a:solidFill>
              <a:srgbClr val="919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0632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0632" y="1828800"/>
            <a:ext cx="1965960" cy="146304"/>
          </a:xfrm>
          <a:prstGeom prst="round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17627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3247"/>
                </a:solidFill>
                <a:latin typeface="Aptos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65176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186"/>
                </a:solidFill>
                <a:latin typeface="Aptos"/>
              </a:rPr>
              <a:t>React + backend APIs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64024" y="2542032"/>
            <a:ext cx="292608" cy="0"/>
          </a:xfrm>
          <a:prstGeom prst="line">
            <a:avLst/>
          </a:prstGeom>
          <a:ln w="19050">
            <a:solidFill>
              <a:srgbClr val="919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9784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9784" y="1828800"/>
            <a:ext cx="1965960" cy="146304"/>
          </a:xfrm>
          <a:prstGeom prst="round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217627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3247"/>
                </a:solidFill>
                <a:latin typeface="Aptos"/>
              </a:rPr>
              <a:t>Storage /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265176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186"/>
                </a:solidFill>
                <a:latin typeface="Aptos"/>
              </a:rPr>
              <a:t>SQL + events + data pipelines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23176" y="2542032"/>
            <a:ext cx="292607" cy="0"/>
          </a:xfrm>
          <a:prstGeom prst="line">
            <a:avLst/>
          </a:prstGeom>
          <a:ln w="19050">
            <a:solidFill>
              <a:srgbClr val="919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88936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88936" y="1828800"/>
            <a:ext cx="1965960" cy="146304"/>
          </a:xfrm>
          <a:prstGeom prst="round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98663" y="217627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3247"/>
                </a:solidFill>
                <a:latin typeface="Aptos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98663" y="265176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186"/>
                </a:solidFill>
                <a:latin typeface="Aptos"/>
              </a:rPr>
              <a:t>SQL + Power BI dashboards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482328" y="2542032"/>
            <a:ext cx="292608" cy="0"/>
          </a:xfrm>
          <a:prstGeom prst="line">
            <a:avLst/>
          </a:prstGeom>
          <a:ln w="19050">
            <a:solidFill>
              <a:srgbClr val="919E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848088" y="1828800"/>
            <a:ext cx="1965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48088" y="1828800"/>
            <a:ext cx="1965960" cy="146304"/>
          </a:xfrm>
          <a:prstGeom prst="round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57815" y="2176272"/>
            <a:ext cx="1737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3247"/>
                </a:solidFill>
                <a:latin typeface="Aptos"/>
              </a:rPr>
              <a:t>Prediction /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5" y="265176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47186"/>
                </a:solidFill>
                <a:latin typeface="Aptos"/>
              </a:rPr>
              <a:t>ML forecast or recommendation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60520"/>
            <a:ext cx="4800600" cy="1097280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160520"/>
            <a:ext cx="82296" cy="1097280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288536"/>
            <a:ext cx="4480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Data analyst 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681728"/>
            <a:ext cx="44805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Which products sell best? Which region is underperforming?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160520"/>
            <a:ext cx="4800600" cy="1097280"/>
          </a:xfrm>
          <a:prstGeom prst="roundRect">
            <a:avLst/>
          </a:prstGeom>
          <a:solidFill>
            <a:srgbClr val="F0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60520"/>
            <a:ext cx="82296" cy="109728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288536"/>
            <a:ext cx="44805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63247"/>
                </a:solidFill>
                <a:latin typeface="Aptos Display"/>
              </a:rPr>
              <a:t>Data scientist 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81728"/>
            <a:ext cx="448056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What might sell next week? Which customers may churn?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Skills that transfer across IT careers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You do not need to learn every tool. Build a foundation, then specialize.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9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82296" cy="1280160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Programming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84248"/>
            <a:ext cx="310896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Conditions, loops, functions, problem solving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3712" y="1463040"/>
            <a:ext cx="3429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3712" y="1463040"/>
            <a:ext cx="82296" cy="1280160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59105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SQL &amp; data literacy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984248"/>
            <a:ext cx="310896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Understand tables, relationships, queries, data quality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75904" y="1463040"/>
            <a:ext cx="3429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75904" y="1463040"/>
            <a:ext cx="82296" cy="1280160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58784" y="159105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Git &amp;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1984248"/>
            <a:ext cx="310896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Version control, code review, teamwork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3429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54680"/>
            <a:ext cx="82296" cy="1280160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8269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APIs &amp;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8"/>
            <a:ext cx="310896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How applications exchange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53712" y="3154680"/>
            <a:ext cx="3429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3712" y="3154680"/>
            <a:ext cx="82296" cy="1280160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328269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Testing &amp; debugging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3675888"/>
            <a:ext cx="310896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Find causes, validate behavior, prevent regressions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75904" y="3154680"/>
            <a:ext cx="34290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75904" y="3154680"/>
            <a:ext cx="82296" cy="1280160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58784" y="3282696"/>
            <a:ext cx="31089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263247"/>
                </a:solidFill>
                <a:latin typeface="Aptos Display"/>
              </a:rPr>
              <a:t>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8784" y="3675888"/>
            <a:ext cx="3108960" cy="68579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Explain findings, document work, ask good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1F37"/>
                </a:solidFill>
                <a:latin typeface="Aptos"/>
              </a:rPr>
              <a:t>A useful strategy: learn shared fundamentals → complete a small project → choose a track → build a portfolio.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How can a student choose a path?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Match interests to the kind of problems you enjoy solving.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98448"/>
            <a:ext cx="10561320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98448"/>
            <a:ext cx="109728" cy="557784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26464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3247"/>
                </a:solidFill>
                <a:latin typeface="Aptos"/>
              </a:rPr>
              <a:t>I enjoy building websites and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26464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978E6"/>
                </a:solidFill>
                <a:latin typeface="Aptos"/>
              </a:rPr>
              <a:t>Frontend / backend / full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10561320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109728" cy="557784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39696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3247"/>
                </a:solidFill>
                <a:latin typeface="Aptos"/>
              </a:rPr>
              <a:t>I enjoy numbers, reports, and business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39696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9D6D"/>
                </a:solidFill>
                <a:latin typeface="Aptos"/>
              </a:rPr>
              <a:t>Data analyst / BI developer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24912"/>
            <a:ext cx="10561320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724912"/>
            <a:ext cx="109728" cy="557784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852928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3247"/>
                </a:solidFill>
                <a:latin typeface="Aptos"/>
              </a:rPr>
              <a:t>I enjoy statistics, experiments, and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852928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566E1"/>
                </a:solidFill>
                <a:latin typeface="Aptos"/>
              </a:rPr>
              <a:t>Data scientist / ML engineer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38144"/>
            <a:ext cx="10561320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438144"/>
            <a:ext cx="109728" cy="557784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566160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3247"/>
                </a:solidFill>
                <a:latin typeface="Aptos"/>
              </a:rPr>
              <a:t>I enjoy automating systems and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66160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973A"/>
                </a:solidFill>
                <a:latin typeface="Aptos"/>
              </a:rPr>
              <a:t>Cloud / DevOps / SRE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51376"/>
            <a:ext cx="10561320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151376"/>
            <a:ext cx="109728" cy="557784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79392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3247"/>
                </a:solidFill>
                <a:latin typeface="Aptos"/>
              </a:rPr>
              <a:t>I enjoy finding weaknesses and protecting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279392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55763"/>
                </a:solidFill>
                <a:latin typeface="Aptos"/>
              </a:rPr>
              <a:t>Cybersecurity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64608"/>
            <a:ext cx="10561320" cy="5577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4864608"/>
            <a:ext cx="109728" cy="557784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92624"/>
            <a:ext cx="4937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3247"/>
                </a:solidFill>
                <a:latin typeface="Aptos"/>
              </a:rPr>
              <a:t>I enjoy understanding users and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992624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6AEBE"/>
                </a:solidFill>
                <a:latin typeface="Aptos"/>
              </a:rPr>
              <a:t>UI/UX / business analyst / 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1F37"/>
                </a:solidFill>
                <a:latin typeface="Aptos Display"/>
              </a:rPr>
              <a:t>Suggested learning route for beginners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647186"/>
                </a:solidFill>
                <a:latin typeface="Aptos"/>
              </a:rPr>
              <a:t>Explore broadly first, then focus on one career path instead of trying to master everything at once.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90472"/>
            <a:ext cx="960120" cy="292608"/>
          </a:xfrm>
          <a:prstGeom prst="round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08760"/>
            <a:ext cx="8869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389888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247"/>
                </a:solidFill>
                <a:latin typeface="Aptos"/>
              </a:rPr>
              <a:t>Digital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389888"/>
            <a:ext cx="5852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Files, operating systems, internet, problem solving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99032" y="1810512"/>
            <a:ext cx="0" cy="384048"/>
          </a:xfrm>
          <a:prstGeom prst="line">
            <a:avLst/>
          </a:prstGeom>
          <a:ln w="15240">
            <a:solidFill>
              <a:srgbClr val="9FAA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432303"/>
            <a:ext cx="960120" cy="292608"/>
          </a:xfrm>
          <a:prstGeom prst="round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450591"/>
            <a:ext cx="8869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33172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247"/>
                </a:solidFill>
                <a:latin typeface="Aptos"/>
              </a:rPr>
              <a:t>One programming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31720"/>
            <a:ext cx="5852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Python or Java; learn logic and core concepts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99032" y="2752344"/>
            <a:ext cx="0" cy="384047"/>
          </a:xfrm>
          <a:prstGeom prst="line">
            <a:avLst/>
          </a:prstGeom>
          <a:ln w="15240">
            <a:solidFill>
              <a:srgbClr val="9FAA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374136"/>
            <a:ext cx="960120" cy="292608"/>
          </a:xfrm>
          <a:prstGeom prst="round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392424"/>
            <a:ext cx="8869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273552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247"/>
                </a:solidFill>
                <a:latin typeface="Aptos"/>
              </a:rPr>
              <a:t>Shared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73552"/>
            <a:ext cx="5852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Git/GitHub, SQL, APIs, basic testing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99032" y="3694176"/>
            <a:ext cx="0" cy="384048"/>
          </a:xfrm>
          <a:prstGeom prst="line">
            <a:avLst/>
          </a:prstGeom>
          <a:ln w="15240">
            <a:solidFill>
              <a:srgbClr val="9FAA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4315968"/>
            <a:ext cx="960120" cy="292608"/>
          </a:xfrm>
          <a:prstGeom prst="round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34256"/>
            <a:ext cx="8869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15384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247"/>
                </a:solidFill>
                <a:latin typeface="Aptos"/>
              </a:rPr>
              <a:t>Choose a specialization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215384"/>
            <a:ext cx="5852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Web development, analytics, AI/data, cloud, security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99032" y="4636008"/>
            <a:ext cx="0" cy="384048"/>
          </a:xfrm>
          <a:prstGeom prst="line">
            <a:avLst/>
          </a:prstGeom>
          <a:ln w="15240">
            <a:solidFill>
              <a:srgbClr val="9FAA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5257800"/>
            <a:ext cx="960120" cy="292608"/>
          </a:xfrm>
          <a:prstGeom prst="round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5276088"/>
            <a:ext cx="88696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157216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63247"/>
                </a:solidFill>
                <a:latin typeface="Aptos"/>
              </a:rPr>
              <a:t>Build and explain projects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5157216"/>
            <a:ext cx="58521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647186"/>
                </a:solidFill>
                <a:latin typeface="Aptos"/>
              </a:rPr>
              <a:t>Portfolio, documentation, demos, interview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8995A8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8995A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F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1064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 Display"/>
              </a:rPr>
              <a:t>Remember: careers connect through real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13816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 i="0">
                <a:solidFill>
                  <a:srgbClr val="C3CFE2"/>
                </a:solidFill>
                <a:latin typeface="Aptos"/>
              </a:rPr>
              <a:t>The best IT teams combine different strengths to build useful, secure, reliable products.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987552"/>
          </a:xfrm>
          <a:prstGeom prst="round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9728" cy="987552"/>
          </a:xfrm>
          <a:prstGeom prst="rect">
            <a:avLst/>
          </a:prstGeom>
          <a:solidFill>
            <a:srgbClr val="397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6479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12264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3E7"/>
                </a:solidFill>
                <a:latin typeface="Aptos"/>
              </a:rPr>
              <a:t>Builds 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00200"/>
            <a:ext cx="3383280" cy="987552"/>
          </a:xfrm>
          <a:prstGeom prst="round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600200"/>
            <a:ext cx="109728" cy="987552"/>
          </a:xfrm>
          <a:prstGeom prst="rect">
            <a:avLst/>
          </a:prstGeom>
          <a:solidFill>
            <a:srgbClr val="2D9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76479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2" y="2112264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3E7"/>
                </a:solidFill>
                <a:latin typeface="Aptos"/>
              </a:rPr>
              <a:t>Explains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600200"/>
            <a:ext cx="3383280" cy="987552"/>
          </a:xfrm>
          <a:prstGeom prst="round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600200"/>
            <a:ext cx="109728" cy="987552"/>
          </a:xfrm>
          <a:prstGeom prst="rect">
            <a:avLst/>
          </a:prstGeom>
          <a:solidFill>
            <a:srgbClr val="8566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68512" y="176479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2112264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3E7"/>
                </a:solidFill>
                <a:latin typeface="Aptos"/>
              </a:rPr>
              <a:t>Adds prediction &amp; intelligence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3383280" cy="987552"/>
          </a:xfrm>
          <a:prstGeom prst="round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109728" cy="987552"/>
          </a:xfrm>
          <a:prstGeom prst="rect">
            <a:avLst/>
          </a:prstGeom>
          <a:solidFill>
            <a:srgbClr val="E79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18211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Cloud /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529584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3E7"/>
                </a:solidFill>
                <a:latin typeface="Aptos"/>
              </a:rPr>
              <a:t>Runs and scales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017520"/>
            <a:ext cx="3383280" cy="987552"/>
          </a:xfrm>
          <a:prstGeom prst="round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017520"/>
            <a:ext cx="109728" cy="987552"/>
          </a:xfrm>
          <a:prstGeom prst="rect">
            <a:avLst/>
          </a:prstGeom>
          <a:solidFill>
            <a:srgbClr val="D55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318211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Security /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3529584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3E7"/>
                </a:solidFill>
                <a:latin typeface="Aptos"/>
              </a:rPr>
              <a:t>Protects and verifies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017520"/>
            <a:ext cx="3383280" cy="987552"/>
          </a:xfrm>
          <a:prstGeom prst="roundRect">
            <a:avLst/>
          </a:prstGeom>
          <a:solidFill>
            <a:srgbClr val="1F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017520"/>
            <a:ext cx="109728" cy="987552"/>
          </a:xfrm>
          <a:prstGeom prst="rect">
            <a:avLst/>
          </a:prstGeom>
          <a:solidFill>
            <a:srgbClr val="2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318211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 Display"/>
              </a:rPr>
              <a:t>Business / 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8512" y="3529584"/>
            <a:ext cx="2880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3E7"/>
                </a:solidFill>
                <a:latin typeface="Aptos"/>
              </a:rPr>
              <a:t>Keeps the product useful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Ask students: Which kind of problem would you enjoy solving every day — building, analyzing, predicting, protecting, or operating?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989320"/>
            <a:ext cx="104241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B0C2DC"/>
                </a:solidFill>
                <a:latin typeface="Aptos"/>
              </a:rPr>
              <a:t>There is no single best IT career. The right path depends on interests, strengths, and practice.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37960"/>
            <a:ext cx="9601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A6B8D2"/>
                </a:solidFill>
                <a:latin typeface="Aptos"/>
              </a:rPr>
              <a:t>CAREERS IN IT: FIELDS &amp; CONNECTIONS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A6B8D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